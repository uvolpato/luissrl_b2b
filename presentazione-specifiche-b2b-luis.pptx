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D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Piattaforma B2B Luis S.r.l.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C0E0"/>
                </a:solidFill>
                <a:latin typeface="Calibri"/>
              </a:defRPr>
            </a:pPr>
            <a:r>
              <a:t>Specifiche funzionali - Portale e-commerce riservato ai rivenditori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A0C0"/>
                </a:solidFill>
                <a:latin typeface="Calibri"/>
              </a:defRPr>
            </a:pPr>
            <a:r>
              <a:t>Luis S.r.l. - Via F. Bellafino 28/30, 24126 Bergamo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A0C0"/>
                </a:solidFill>
                <a:latin typeface="Calibri"/>
              </a:defRPr>
            </a:pPr>
            <a:r>
              <a:t>Settore: Commercio all'ingrosso articoli per fioristi e garden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956A"/>
                </a:solidFill>
                <a:latin typeface="Calibri"/>
              </a:defRPr>
            </a:pPr>
            <a:r>
              <a:t>Documento: bozza 1.3 - Giugno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1. Obiettivo e ambito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Cos'e il portale B2B e cosa NON rientra in questa fase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2. Catalogo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7451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Linee, Famiglie, articoli, dimensioni a cascata, confezioni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3. Prezzi e sconti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37743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Listini cliente, sconti cliente/linea/famiglia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4. Ordini e clienti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8035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Ciclo di vita ordini, invito, blocco, accesso riservato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5. Giacenza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38327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Disponibilita visibile, superamento 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1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6. Integrazione Integra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8619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Import/export Excel, tracciati, coerenza dati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7. Amministrazione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38911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Inserimento articoli, immagini AI, creatore descrizione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8. Funzionalita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9203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Ricerca semantica, ricerca per immagini, banner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9. Tecnologia e costi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39495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Stack, modelli LLM, GPU cloud, stima costi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1. Obiettivo e ambito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Portale B2B riservato ai clienti rivenditori Luis S.r.l.</a:t>
            </a:r>
          </a:p>
          <a:p>
            <a:pPr>
              <a:spcAft>
                <a:spcPts val="300"/>
              </a:spcAft>
              <a:defRPr sz="6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t>Il portale consente di: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-  Consultare il catalogo con prezzi personalizzati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-  Vedere la giacenza/disponibilita degli articoli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-  Comporre ordini (dimensioni, confezioni multiple)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-  Seguire lo stato dell'ordine fino alla spedizione</a:t>
            </a:r>
          </a:p>
          <a:p>
            <a:pPr>
              <a:spcAft>
                <a:spcPts val="300"/>
              </a:spcAft>
              <a:defRPr sz="8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Dati caricati da Integra tramite file Excel</a:t>
            </a:r>
          </a:p>
          <a:p>
            <a:pPr>
              <a:spcAft>
                <a:spcPts val="3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Ordini esportati dal sito in Excel per Integra</a:t>
            </a:r>
          </a:p>
          <a:p>
            <a:pPr>
              <a:spcAft>
                <a:spcPts val="300"/>
              </a:spcAft>
              <a:defRPr sz="8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 b="0">
                <a:solidFill>
                  <a:srgbClr val="CC5544"/>
                </a:solidFill>
                <a:latin typeface="Calibri"/>
              </a:defRPr>
            </a:pPr>
            <a:r>
              <a:t>Non in questa fase: vendita al pubblico, pagamenti online, API real-time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2. Catalogo - Linee, Famiglie, Articoli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Struttura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700" b="1">
                <a:solidFill>
                  <a:srgbClr val="222222"/>
                </a:solidFill>
                <a:latin typeface="Calibri"/>
              </a:defRPr>
            </a:pPr>
            <a:r>
              <a:t>Linea = famiglia principale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Una sola per articolo, obbligatoria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700" b="1">
                <a:solidFill>
                  <a:srgbClr val="222222"/>
                </a:solidFill>
                <a:latin typeface="Calibri"/>
              </a:defRPr>
            </a:pPr>
            <a:r>
              <a:t>Famiglie = raggruppamenti secondari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N per articolo (Cotto da Interno,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Capi, Novita, Natale 2026)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700" b="1">
                <a:solidFill>
                  <a:srgbClr val="222222"/>
                </a:solidFill>
                <a:latin typeface="Calibri"/>
              </a:defRPr>
            </a:pPr>
            <a:r>
              <a:t>Dimensioni a cascata (3 livelli)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Menu a tendina dipendenti filtrati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700" b="1">
                <a:solidFill>
                  <a:srgbClr val="222222"/>
                </a:solidFill>
                <a:latin typeface="Calibri"/>
              </a:defRPr>
            </a:pPr>
            <a:r>
              <a:t>Confezioni multiple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Multiplo d'ordine configurabile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Pubblicazione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Attivabile/disattivabile senza cancellare</a:t>
            </a:r>
          </a:p>
          <a:p>
            <a:pPr>
              <a:spcAft>
                <a:spcPts val="300"/>
              </a:spcAft>
              <a:defRPr sz="8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Immagini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Linea: 1 immagine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Famiglia: 1 immagine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Articolo: molte (galleria + ordinamento)</a:t>
            </a:r>
          </a:p>
          <a:p>
            <a:pPr>
              <a:spcAft>
                <a:spcPts val="300"/>
              </a:spcAft>
              <a:defRPr sz="8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700" b="1">
                <a:solidFill>
                  <a:srgbClr val="1A3A5C"/>
                </a:solidFill>
                <a:latin typeface="Calibri"/>
              </a:defRPr>
            </a:pPr>
            <a:r>
              <a:t>Layout scheda articolo: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Galleria miniature -&gt; Immagine grande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con zoom -&gt; Descrizione e prezzi -&gt;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Barra acquisto con varianti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3. Prezzi e sconti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A3A5C"/>
                </a:solidFill>
                <a:latin typeface="Calibri"/>
              </a:defRPr>
            </a:pPr>
            <a:r>
              <a:t>Ogni cliente ha un listino di riferimento</a:t>
            </a:r>
          </a:p>
          <a:p>
            <a:pPr>
              <a:spcAft>
                <a:spcPts val="300"/>
              </a:spcAft>
              <a:defRPr sz="6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800" b="1">
                <a:solidFill>
                  <a:srgbClr val="1A3A5C"/>
                </a:solidFill>
                <a:latin typeface="Calibri"/>
              </a:defRPr>
            </a:pPr>
            <a:r>
              <a:t>Tipologie di sconto: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1. Sconto cliente - sull'anagrafica, vale su tutto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2. Sconto linea - sulla Linea (famiglia principale)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3. Sconto famiglia - si applica il MASSIMO tra quelli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   delle Famiglie secondarie associate all'articolo</a:t>
            </a:r>
          </a:p>
          <a:p>
            <a:pPr>
              <a:spcAft>
                <a:spcPts val="300"/>
              </a:spcAft>
              <a:defRPr sz="8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800" b="1">
                <a:solidFill>
                  <a:srgbClr val="D4956A"/>
                </a:solidFill>
                <a:latin typeface="Calibri"/>
              </a:defRPr>
            </a:pPr>
            <a:r>
              <a:t>Regola di combinazione (DA CONFERMARE):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Opzione A (proposta): best-wins - solo lo sconto piu alto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Opzione B: sconti a cascata cumulativi</a:t>
            </a:r>
          </a:p>
          <a:p>
            <a:pPr>
              <a:spcAft>
                <a:spcPts val="300"/>
              </a:spcAft>
              <a:defRPr sz="8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800" b="1">
                <a:solidFill>
                  <a:srgbClr val="1A3A5C"/>
                </a:solidFill>
                <a:latin typeface="Calibri"/>
              </a:defRPr>
            </a:pPr>
            <a:r>
              <a:t>Visualizzazione: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Prezzo netto (gia scontato, IVA esclusa)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Prezzo listino barrato + percentuale sconto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4. Ordini e gestione clienti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Ordini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Stati: Fatto -&gt; In lavorazione -&gt; Spedito -&gt; Storico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Stati gestiti lato Luis, cliente in sola lettura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Storico ordini sempre disponibile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Funzione riordino da storico (da valutare)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Clienti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Nessuna auto-registrazione: clienti invitati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Bloccabili ma mai cancellati (preserva storico)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Un solo account per azienda</a:t>
            </a:r>
          </a:p>
          <a:p>
            <a:pPr>
              <a:spcAft>
                <a:spcPts val="300"/>
              </a:spcAft>
              <a:defRPr sz="1600" b="1">
                <a:solidFill>
                  <a:srgbClr val="CC5544"/>
                </a:solidFill>
                <a:latin typeface="Calibri"/>
              </a:defRPr>
            </a:pPr>
            <a:r>
              <a:t>Accesso riservato: solo dopo login</a:t>
            </a:r>
          </a:p>
          <a:p>
            <a:pPr>
              <a:spcAft>
                <a:spcPts val="300"/>
              </a:spcAft>
              <a:defRPr sz="6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800" b="1">
                <a:solidFill>
                  <a:srgbClr val="1A3A5C"/>
                </a:solidFill>
                <a:latin typeface="Calibri"/>
              </a:defRPr>
            </a:pPr>
            <a:r>
              <a:t>Homepage personalizzata: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- Riprendi da dove hai lasciato (ultima ricerca)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- Articoli interessanti (AI, mai acquistati)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- Offerte (promozioni attive)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5. Giacenza e disponibilita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222222"/>
                </a:solidFill>
                <a:latin typeface="Calibri"/>
              </a:defRPr>
            </a:pPr>
            <a:r>
              <a:t>Giacenza visibile al cliente per ogni articolo/variante</a:t>
            </a:r>
          </a:p>
          <a:p>
            <a:pPr>
              <a:spcAft>
                <a:spcPts val="300"/>
              </a:spcAft>
              <a:defRPr sz="8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Dato proveniente da Integra via import Excel</a:t>
            </a:r>
          </a:p>
          <a:p>
            <a:pPr>
              <a:spcAft>
                <a:spcPts val="3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Il portale non ricalcola la giacenza, la riceve</a:t>
            </a:r>
          </a:p>
          <a:p>
            <a:pPr>
              <a:spcAft>
                <a:spcPts val="300"/>
              </a:spcAft>
              <a:defRPr sz="8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800" b="1">
                <a:solidFill>
                  <a:srgbClr val="D4956A"/>
                </a:solidFill>
                <a:latin typeface="Calibri"/>
              </a:defRPr>
            </a:pPr>
            <a:r>
              <a:t>Da definire: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- Visualizzazione: quantita esatta O fasce/semaforo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- Se quantita ordinata &gt; giacenza:</a:t>
            </a:r>
          </a:p>
          <a:p>
            <a:pPr>
              <a:spcAft>
                <a:spcPts val="3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    Blocco ordine / Back-order / Solo avviso</a:t>
            </a:r>
          </a:p>
          <a:p>
            <a:pPr>
              <a:spcAft>
                <a:spcPts val="300"/>
              </a:spcAft>
              <a:defRPr sz="8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Nota: allineamento via Excel, giacenza indicativa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6. Integrazione con Integra (Excel)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Calibri"/>
              </a:defRPr>
            </a:pPr>
            <a:r>
              <a:t>Import (Integra -&gt; Portale)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Anagrafiche clienti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(listino, sconti, stato attivo/bloccato)</a:t>
            </a:r>
          </a:p>
          <a:p>
            <a:pPr>
              <a:spcAft>
                <a:spcPts val="300"/>
              </a:spcAft>
              <a:defRPr sz="2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Listini (prezzi per articolo/variante)</a:t>
            </a:r>
          </a:p>
          <a:p>
            <a:pPr>
              <a:spcAft>
                <a:spcPts val="300"/>
              </a:spcAft>
              <a:defRPr sz="2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Catalogo: linee, famiglie, articoli,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dimensioni, multipli</a:t>
            </a:r>
          </a:p>
          <a:p>
            <a:pPr>
              <a:spcAft>
                <a:spcPts val="300"/>
              </a:spcAft>
              <a:defRPr sz="2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Giacenze per articolo/variante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Immagini gestite separatamente (non via Excel)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Calibri"/>
              </a:defRPr>
            </a:pPr>
            <a:r>
              <a:t>Export (Portale -&gt; Integra)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222222"/>
                </a:solidFill>
                <a:latin typeface="Calibri"/>
              </a:defRPr>
            </a:pPr>
            <a:r>
              <a:t>Ordini ricevuti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Testata + righe: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cliente, articolo/variante, dimensioni,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quantita, multiplo, prezzo netto, sconti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Tracciato compatibile con import Integra</a:t>
            </a:r>
          </a:p>
          <a:p>
            <a:pPr>
              <a:spcAft>
                <a:spcPts val="300"/>
              </a:spcAft>
              <a:defRPr sz="2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Marcatura 'esportato' per evitare doppie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esportazioni</a:t>
            </a:r>
          </a:p>
          <a:p>
            <a:pPr>
              <a:spcAft>
                <a:spcPts val="300"/>
              </a:spcAft>
              <a:defRPr sz="2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Codici Integra come identificativi su entrambi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7. Amministrazione - Inserimento articoli e manutenzione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Flusso 'Nuovo articolo'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Modale di ricerca -&gt; seleziona articoli da Integra non configurati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Linea e Famiglie da Integra: immutabili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Possibile associare Famiglie aggiuntive create solo sul sito</a:t>
            </a:r>
          </a:p>
          <a:p>
            <a:pPr>
              <a:spcAft>
                <a:spcPts val="300"/>
              </a:spcAft>
              <a:defRPr sz="6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Gestione immagini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1. Foto su sfondo bianco (piattaforma dedicata, multi-angolazione)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2. Immagini ambientate generate con AI generativa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   (API DALL-E, Midjourney, Stable Diffusion da prompt admin)</a:t>
            </a:r>
          </a:p>
          <a:p>
            <a:pPr>
              <a:spcAft>
                <a:spcPts val="300"/>
              </a:spcAft>
              <a:defRPr sz="6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Creatore di descrizione AI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Admin descrive il prodotto in linguaggio naturale (anche vocale)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  -&gt; Testo discorsivo + Testo per punti + Metadati per ricerca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Alimenta anche il prompt per l'immagine ambientata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8. Funzionalita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Ricerca semantica (cliente)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Linguaggio naturale per descrivere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cosa si cerca</a:t>
            </a:r>
          </a:p>
          <a:p>
            <a:pPr>
              <a:spcAft>
                <a:spcPts val="300"/>
              </a:spcAft>
              <a:defRPr sz="8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Ricerca per immagini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Upload foto -&gt; AI descrive oggetto/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contesto -&gt; suggerisce articoli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Possibile raffinamento con testo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Banner articoli suggeriti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Posizionati in navigazione (home,</a:t>
            </a: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linea, famiglia, articolo, carrello)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Prompt configurabili dall'admin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es. 'novita in cotto per Natale'</a:t>
            </a:r>
          </a:p>
          <a:p>
            <a:pPr>
              <a:spcAft>
                <a:spcPts val="3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t>Configurabili: prompt, posizione,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titolo, n. articoli, periodo validita</a:t>
            </a:r>
          </a:p>
          <a:p>
            <a:pPr>
              <a:spcAft>
                <a:spcPts val="300"/>
              </a:spcAft>
              <a:defRPr sz="6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Prezzi sempre secondo listino e sconti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9. Tecnologia proposta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Stack tecnologico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Frontend: Next.js (App Router)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Backend AI: Python FastAPI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Database: PostgreSQL + pgvector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Cache: Redis (Upstash)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Storage: Cloudflare R2 / S3</a:t>
            </a:r>
          </a:p>
          <a:p>
            <a:pPr>
              <a:spcAft>
                <a:spcPts val="300"/>
              </a:spcAft>
              <a:defRPr sz="6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1">
                <a:solidFill>
                  <a:srgbClr val="1A3A5C"/>
                </a:solidFill>
                <a:latin typeface="Calibri"/>
              </a:defRPr>
            </a:pPr>
            <a:r>
              <a:t>Modello LLM primario: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Qwen 3.5 27B (Q4 ~16GB VRAM)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Apache 2.0, italiano supportato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Hosting e costi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A3A5C"/>
                </a:solidFill>
                <a:latin typeface="Calibri"/>
              </a:defRPr>
            </a:pPr>
            <a:r>
              <a:t>GPU Cloud: RunPod Serverless</a:t>
            </a:r>
          </a:p>
          <a:p>
            <a:pPr>
              <a:spcAft>
                <a:spcPts val="300"/>
              </a:spcAft>
              <a:defRPr sz="1400" b="0">
                <a:solidFill>
                  <a:srgbClr val="222222"/>
                </a:solidFill>
                <a:latin typeface="Calibri"/>
              </a:defRPr>
            </a:pPr>
            <a:r>
              <a:t>  RTX 4090 da $0.34/h (spot)</a:t>
            </a:r>
          </a:p>
          <a:p>
            <a:pPr>
              <a:spcAft>
                <a:spcPts val="300"/>
              </a:spcAft>
              <a:defRPr sz="1400" b="0">
                <a:solidFill>
                  <a:srgbClr val="222222"/>
                </a:solidFill>
                <a:latin typeface="Calibri"/>
              </a:defRPr>
            </a:pPr>
            <a:r>
              <a:t>  A100 80GB da $1.19/h (spot)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Pagamento al secondo, scala a zero</a:t>
            </a:r>
          </a:p>
          <a:p>
            <a:pPr>
              <a:spcAft>
                <a:spcPts val="300"/>
              </a:spcAft>
              <a:defRPr sz="6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 b="1">
                <a:solidFill>
                  <a:srgbClr val="1A3A5C"/>
                </a:solidFill>
                <a:latin typeface="Calibri"/>
              </a:defRPr>
            </a:pPr>
            <a:r>
              <a:t>Costi totali stimati: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Solo admin: ~$12-72/mese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Admin + clienti: ~$95-202/mese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Completo: ~$120-277/mese</a:t>
            </a:r>
          </a:p>
          <a:p>
            <a:pPr>
              <a:spcAft>
                <a:spcPts val="300"/>
              </a:spcAft>
              <a:defRPr sz="6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2E7D32"/>
                </a:solidFill>
                <a:latin typeface="Calibri"/>
              </a:defRPr>
            </a:pPr>
            <a:r>
              <a:t>Break-even vs API (Claude/GPT)</a:t>
            </a:r>
          </a:p>
          <a:p>
            <a:pPr>
              <a:spcAft>
                <a:spcPts val="300"/>
              </a:spcAft>
              <a:defRPr sz="1400" b="0">
                <a:solidFill>
                  <a:srgbClr val="2E7D32"/>
                </a:solidFill>
                <a:latin typeface="Calibri"/>
              </a:defRPr>
            </a:pPr>
            <a:r>
              <a:t>in 2-4 mesi per carichi sostenuti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10. Stima costi mensili - dettaglio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2286000"/>
                <a:gridCol w="2286000"/>
              </a:tblGrid>
              <a:tr h="51206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GPU AI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API Immagini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Solo admin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$2-52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$10-20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$12-72/mese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Admin + clienti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$25-52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$60-120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$10-30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$95-202/mese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Completo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$25-52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$75-165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$20-60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$120-277/mese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Confronto API esterne</a:t>
                      </a:r>
                    </a:p>
                  </a:txBody>
                  <a:tcPr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$150-400/mese</a:t>
                      </a:r>
                    </a:p>
                  </a:txBody>
                  <a:tcPr>
                    <a:solidFill>
                      <a:srgbClr val="FFF0E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89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A3A5C"/>
                </a:solidFill>
                <a:latin typeface="Calibri"/>
              </a:defRPr>
            </a:pPr>
            <a:r>
              <a:t>Costi chiave: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- GPU: RunPod Serverless - si paga solo quando il modello viene usato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- Hosting: Supabase free tier + Vercel Hobby bastano per iniziare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- Immagini ambientate: API esterne a consumo (~$0.04/immagine)</a:t>
            </a:r>
          </a:p>
          <a:p>
            <a:pPr>
              <a:spcAft>
                <a:spcPts val="3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  - Embedding: self-hosted su CPU (gratuito) o API OpenAI (~$2/mese)</a:t>
            </a:r>
          </a:p>
          <a:p>
            <a:pPr>
              <a:spcAft>
                <a:spcPts val="300"/>
              </a:spcAft>
              <a:defRPr sz="6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Rispetto alle API esterne (Claude/GPT-4o: $150-400/mese), il self-hosted</a:t>
            </a:r>
          </a:p>
          <a:p>
            <a:pPr>
              <a:spcAft>
                <a:spcPts val="3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su GPU a consumo e piu economico, con break-even in 2-4 mesi.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D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Prossimi passi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A0C0E0"/>
                </a:solidFill>
                <a:latin typeface="Calibri"/>
              </a:defRPr>
            </a:pPr>
            <a:r>
              <a:t>1. Validare le decisioni aperte (DA DEFINIRE / DA CONFERMARE)</a:t>
            </a:r>
          </a:p>
          <a:p>
            <a:pPr>
              <a:spcAft>
                <a:spcPts val="300"/>
              </a:spcAft>
              <a:defRPr sz="1600" b="0">
                <a:solidFill>
                  <a:srgbClr val="80A0C0"/>
                </a:solidFill>
                <a:latin typeface="Calibri"/>
              </a:defRPr>
            </a:pPr>
            <a:r>
              <a:t>   - Regola di combinazione sconti (best-wins o cascata)</a:t>
            </a:r>
          </a:p>
          <a:p>
            <a:pPr>
              <a:spcAft>
                <a:spcPts val="300"/>
              </a:spcAft>
              <a:defRPr sz="1600" b="0">
                <a:solidFill>
                  <a:srgbClr val="80A0C0"/>
                </a:solidFill>
                <a:latin typeface="Calibri"/>
              </a:defRPr>
            </a:pPr>
            <a:r>
              <a:t>   - Visualizzazione giacenza (quantita esatta o fasce)</a:t>
            </a:r>
          </a:p>
          <a:p>
            <a:pPr>
              <a:spcAft>
                <a:spcPts val="300"/>
              </a:spcAft>
              <a:defRPr sz="1600" b="0">
                <a:solidFill>
                  <a:srgbClr val="80A0C0"/>
                </a:solidFill>
                <a:latin typeface="Calibri"/>
              </a:defRPr>
            </a:pPr>
            <a:r>
              <a:t>   - Tracciati Excel con Integra</a:t>
            </a:r>
          </a:p>
          <a:p>
            <a:pPr>
              <a:spcAft>
                <a:spcPts val="3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2000" b="0">
                <a:solidFill>
                  <a:srgbClr val="A0C0E0"/>
                </a:solidFill>
                <a:latin typeface="Calibri"/>
              </a:defRPr>
            </a:pPr>
            <a:r>
              <a:t>2. Confermare la scelta del modello AI e del provider GPU</a:t>
            </a:r>
          </a:p>
          <a:p>
            <a:pPr>
              <a:spcAft>
                <a:spcPts val="3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2000" b="0">
                <a:solidFill>
                  <a:srgbClr val="A0C0E0"/>
                </a:solidFill>
                <a:latin typeface="Calibri"/>
              </a:defRPr>
            </a:pPr>
            <a:r>
              <a:t>3. Avviare la fase di sviluppo</a:t>
            </a:r>
          </a:p>
          <a:p>
            <a:pPr>
              <a:spcAft>
                <a:spcPts val="3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2000" b="0">
                <a:solidFill>
                  <a:srgbClr val="A0C0E0"/>
                </a:solidFill>
                <a:latin typeface="Calibri"/>
              </a:defRPr>
            </a:pPr>
            <a:r>
              <a:t>4. Definire i tracciati Excel con il referente Integra</a:t>
            </a:r>
          </a:p>
          <a:p>
            <a:pPr>
              <a:spcAft>
                <a:spcPts val="3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2000" b="0">
                <a:solidFill>
                  <a:srgbClr val="A0C0E0"/>
                </a:solidFill>
                <a:latin typeface="Calibri"/>
              </a:defRPr>
            </a:pPr>
            <a:r>
              <a:t>5. Pianificare la migrazione dati iniziale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